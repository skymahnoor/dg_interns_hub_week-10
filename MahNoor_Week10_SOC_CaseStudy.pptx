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7371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E36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04134" y="689372"/>
            <a:ext cx="3993356" cy="3993356"/>
          </a:xfrm>
          <a:prstGeom prst="ellipse">
            <a:avLst/>
          </a:prstGeom>
          <a:noFill/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5075634" y="1260872"/>
            <a:ext cx="2850356" cy="2850356"/>
          </a:xfrm>
          <a:prstGeom prst="ellipse">
            <a:avLst/>
          </a:prstGeom>
          <a:noFill/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647134" y="1832372"/>
            <a:ext cx="1707356" cy="1707356"/>
          </a:xfrm>
          <a:prstGeom prst="ellipse">
            <a:avLst/>
          </a:prstGeom>
          <a:noFill/>
          <a:ln w="7144">
            <a:solidFill>
              <a:srgbClr val="2DD4BF"/>
            </a:solidFill>
            <a:prstDash val="dash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543425" y="728663"/>
            <a:ext cx="3914775" cy="3914775"/>
          </a:xfrm>
          <a:prstGeom prst="ellipse">
            <a:avLst/>
          </a:prstGeom>
          <a:solidFill>
            <a:srgbClr val="2DD4BF">
              <a:alpha val="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2110"/>
            <a:ext cx="9144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90172" y="1075134"/>
            <a:ext cx="1207294" cy="1207294"/>
          </a:xfrm>
          <a:prstGeom prst="ellipse">
            <a:avLst/>
          </a:prstGeom>
          <a:noFill/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7375922" y="1360884"/>
            <a:ext cx="635794" cy="635794"/>
          </a:xfrm>
          <a:prstGeom prst="ellipse">
            <a:avLst/>
          </a:prstGeom>
          <a:noFill/>
          <a:ln w="7144">
            <a:solidFill>
              <a:srgbClr val="2DD4BF"/>
            </a:solidFill>
            <a:prstDash val="dash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7086600" y="1671638"/>
            <a:ext cx="1214438" cy="7144"/>
          </a:xfrm>
          <a:prstGeom prst="rect">
            <a:avLst/>
          </a:prstGeom>
          <a:solidFill>
            <a:srgbClr val="2DD4BF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7693819" y="1071563"/>
            <a:ext cx="7144" cy="1214438"/>
          </a:xfrm>
          <a:prstGeom prst="rect">
            <a:avLst/>
          </a:prstGeom>
          <a:solidFill>
            <a:srgbClr val="2DD4BF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7672388" y="1650206"/>
            <a:ext cx="50006" cy="50006"/>
          </a:xfrm>
          <a:prstGeom prst="ellipse">
            <a:avLst/>
          </a:prstGeom>
          <a:solidFill>
            <a:srgbClr val="2DD4BF"/>
          </a:solidFill>
          <a:ln/>
          <a:effectLst>
            <a:outerShdw blurRad="133350" dist="50800" dir="16200000" algn="bl" rotWithShape="0">
              <a:srgbClr val="2DD4BF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8443913" y="378619"/>
            <a:ext cx="242888" cy="0"/>
          </a:xfrm>
          <a:prstGeom prst="line">
            <a:avLst/>
          </a:prstGeom>
          <a:noFill/>
          <a:ln w="14288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1"/>
          <p:cNvSpPr/>
          <p:nvPr/>
        </p:nvSpPr>
        <p:spPr>
          <a:xfrm>
            <a:off x="8679656" y="371475"/>
            <a:ext cx="0" cy="242888"/>
          </a:xfrm>
          <a:prstGeom prst="line">
            <a:avLst/>
          </a:prstGeom>
          <a:noFill/>
          <a:ln w="14288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2"/>
          <p:cNvSpPr/>
          <p:nvPr/>
        </p:nvSpPr>
        <p:spPr>
          <a:xfrm>
            <a:off x="460772" y="360759"/>
            <a:ext cx="3112889" cy="244673"/>
          </a:xfrm>
          <a:prstGeom prst="roundRect">
            <a:avLst>
              <a:gd name="adj" fmla="val 3889058"/>
            </a:avLst>
          </a:prstGeom>
          <a:solidFill>
            <a:srgbClr val="2DD4BF">
              <a:alpha val="13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78644" y="458093"/>
            <a:ext cx="50006" cy="50006"/>
          </a:xfrm>
          <a:prstGeom prst="roundRect">
            <a:avLst>
              <a:gd name="adj" fmla="val 66667"/>
            </a:avLst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57200" y="357188"/>
            <a:ext cx="3400424" cy="33634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142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 DG INTERNS HUB - CYBER SECURITY INTERNSHIP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57200" y="1138870"/>
            <a:ext cx="6915150" cy="182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5"/>
              </a:lnSpc>
              <a:buNone/>
            </a:pPr>
            <a:r>
              <a:rPr lang="en-US" sz="6525" b="1" kern="0" spc="-163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 Hunt</a:t>
            </a:r>
            <a:endParaRPr lang="en-US" sz="6525" dirty="0"/>
          </a:p>
          <a:p>
            <a:pPr marL="0" indent="0" algn="l">
              <a:lnSpc>
                <a:spcPts val="6655"/>
              </a:lnSpc>
              <a:buNone/>
            </a:pPr>
            <a:r>
              <a:rPr lang="en-US" sz="6525" b="1" kern="0" spc="-163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Threats.</a:t>
            </a:r>
            <a:endParaRPr lang="en-US" sz="6525" dirty="0"/>
          </a:p>
        </p:txBody>
      </p:sp>
      <p:sp>
        <p:nvSpPr>
          <p:cNvPr id="21" name="Text 16"/>
          <p:cNvSpPr/>
          <p:nvPr/>
        </p:nvSpPr>
        <p:spPr>
          <a:xfrm>
            <a:off x="457200" y="3029285"/>
            <a:ext cx="557213" cy="14288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57200" y="3215022"/>
            <a:ext cx="628650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 10 SOC Case Study - Wazuh SIEM Setup &amp; Alert Monitoring</a:t>
            </a:r>
            <a:endParaRPr lang="en-US" sz="1238" dirty="0"/>
          </a:p>
        </p:txBody>
      </p:sp>
      <p:sp>
        <p:nvSpPr>
          <p:cNvPr id="23" name="Text 18"/>
          <p:cNvSpPr/>
          <p:nvPr/>
        </p:nvSpPr>
        <p:spPr>
          <a:xfrm>
            <a:off x="457200" y="3543635"/>
            <a:ext cx="4429125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I turned an isolated VirtualBox lab into a working Security Operations center - and caught a simulated SSH attacker red-handed.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60772" y="4471988"/>
            <a:ext cx="321469" cy="321469"/>
          </a:xfrm>
          <a:prstGeom prst="roundRect">
            <a:avLst>
              <a:gd name="adj" fmla="val 35556"/>
            </a:avLst>
          </a:prstGeom>
          <a:solidFill>
            <a:srgbClr val="2DD4BF">
              <a:alpha val="13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97205" y="450842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6" name="Text 21"/>
          <p:cNvSpPr/>
          <p:nvPr/>
        </p:nvSpPr>
        <p:spPr>
          <a:xfrm>
            <a:off x="885825" y="4450556"/>
            <a:ext cx="3124819" cy="19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Mah Noor</a:t>
            </a:r>
            <a:endParaRPr lang="en-US" sz="1069" dirty="0"/>
          </a:p>
        </p:txBody>
      </p:sp>
      <p:sp>
        <p:nvSpPr>
          <p:cNvPr id="27" name="Text 22"/>
          <p:cNvSpPr/>
          <p:nvPr/>
        </p:nvSpPr>
        <p:spPr>
          <a:xfrm>
            <a:off x="885825" y="4675584"/>
            <a:ext cx="24412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Cyber Security Intern</a:t>
            </a:r>
            <a:endParaRPr lang="en-US" sz="731" dirty="0"/>
          </a:p>
        </p:txBody>
      </p:sp>
      <p:sp>
        <p:nvSpPr>
          <p:cNvPr id="28" name="Text 23"/>
          <p:cNvSpPr/>
          <p:nvPr/>
        </p:nvSpPr>
        <p:spPr>
          <a:xfrm>
            <a:off x="6370997" y="4562770"/>
            <a:ext cx="783915" cy="264919"/>
          </a:xfrm>
          <a:prstGeom prst="roundRect">
            <a:avLst>
              <a:gd name="adj" fmla="val 3591843"/>
            </a:avLst>
          </a:prstGeom>
          <a:solidFill>
            <a:srgbClr val="0D1E36">
              <a:alpha val="88000"/>
            </a:srgbClr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363931" y="4575572"/>
            <a:ext cx="79804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Wazuh 4.14.9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7226350" y="4562770"/>
            <a:ext cx="616930" cy="264919"/>
          </a:xfrm>
          <a:prstGeom prst="roundRect">
            <a:avLst>
              <a:gd name="adj" fmla="val 3591843"/>
            </a:avLst>
          </a:prstGeom>
          <a:solidFill>
            <a:srgbClr val="0D1E36">
              <a:alpha val="88000"/>
            </a:srgbClr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7226350" y="4575572"/>
            <a:ext cx="616930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Snort IDS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7914717" y="4562770"/>
            <a:ext cx="772083" cy="264919"/>
          </a:xfrm>
          <a:prstGeom prst="roundRect">
            <a:avLst>
              <a:gd name="adj" fmla="val 3591843"/>
            </a:avLst>
          </a:prstGeom>
          <a:solidFill>
            <a:srgbClr val="0D1E36">
              <a:alpha val="88000"/>
            </a:srgbClr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7897539" y="4575572"/>
            <a:ext cx="806440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Ubuntu 24.04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391" y="-300037"/>
            <a:ext cx="259061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0"/>
              </a:lnSpc>
              <a:buNone/>
            </a:pPr>
            <a:r>
              <a:rPr lang="en-US" sz="11250" b="1" kern="0" spc="-450" dirty="0">
                <a:solidFill>
                  <a:srgbClr val="2DD4BF">
                    <a:alpha val="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1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4856856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73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CASE FILE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3672647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kern="0" spc="-23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Lab - Mission Briefing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600700" y="622399"/>
            <a:ext cx="3086100" cy="35779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16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Everything ran inside an authorized, isolated VirtualBox lab on a host-only network - safe to attack, safe to defend.</a:t>
            </a:r>
            <a:endParaRPr lang="en-US" sz="816" dirty="0"/>
          </a:p>
        </p:txBody>
      </p:sp>
      <p:sp>
        <p:nvSpPr>
          <p:cNvPr id="6" name="Text 4"/>
          <p:cNvSpPr/>
          <p:nvPr/>
        </p:nvSpPr>
        <p:spPr>
          <a:xfrm>
            <a:off x="460772" y="1178719"/>
            <a:ext cx="4739878" cy="1373721"/>
          </a:xfrm>
          <a:prstGeom prst="roundRect">
            <a:avLst>
              <a:gd name="adj" fmla="val 9707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9366" y="1343025"/>
            <a:ext cx="307181" cy="307181"/>
          </a:xfrm>
          <a:prstGeom prst="roundRect">
            <a:avLst>
              <a:gd name="adj" fmla="val 34109"/>
            </a:avLst>
          </a:prstGeom>
          <a:solidFill>
            <a:srgbClr val="2DD4BF">
              <a:alpha val="13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3834" y="1377494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1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17" dirty="0"/>
          </a:p>
        </p:txBody>
      </p:sp>
      <p:sp>
        <p:nvSpPr>
          <p:cNvPr id="9" name="Text 7"/>
          <p:cNvSpPr/>
          <p:nvPr/>
        </p:nvSpPr>
        <p:spPr>
          <a:xfrm>
            <a:off x="1078706" y="1339453"/>
            <a:ext cx="3946922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Wazuh Server</a:t>
            </a:r>
            <a:endParaRPr lang="en-US" sz="1069" dirty="0"/>
          </a:p>
        </p:txBody>
      </p:sp>
      <p:sp>
        <p:nvSpPr>
          <p:cNvPr id="10" name="Text 8"/>
          <p:cNvSpPr/>
          <p:nvPr/>
        </p:nvSpPr>
        <p:spPr>
          <a:xfrm>
            <a:off x="1078706" y="1593056"/>
            <a:ext cx="3946922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Official Wazuh 4.14.9 OVA on Amazon Linux 2023 - manager, indexer and dashboard all running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5846" y="2159233"/>
            <a:ext cx="866470" cy="245274"/>
          </a:xfrm>
          <a:prstGeom prst="roundRect">
            <a:avLst>
              <a:gd name="adj" fmla="val 3879529"/>
            </a:avLst>
          </a:prstGeom>
          <a:solidFill>
            <a:srgbClr val="2DD4BF">
              <a:alpha val="13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78706" y="2172035"/>
            <a:ext cx="820750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192.168.56.103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36381" y="1178719"/>
            <a:ext cx="3346847" cy="1373721"/>
          </a:xfrm>
          <a:prstGeom prst="roundRect">
            <a:avLst>
              <a:gd name="adj" fmla="val 9707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14975" y="1343025"/>
            <a:ext cx="307181" cy="307181"/>
          </a:xfrm>
          <a:prstGeom prst="roundRect">
            <a:avLst>
              <a:gd name="adj" fmla="val 34109"/>
            </a:avLst>
          </a:prstGeom>
          <a:solidFill>
            <a:srgbClr val="2DD4BF">
              <a:alpha val="13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49444" y="1377494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1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617" dirty="0"/>
          </a:p>
        </p:txBody>
      </p:sp>
      <p:sp>
        <p:nvSpPr>
          <p:cNvPr id="16" name="Text 14"/>
          <p:cNvSpPr/>
          <p:nvPr/>
        </p:nvSpPr>
        <p:spPr>
          <a:xfrm>
            <a:off x="5954316" y="1339453"/>
            <a:ext cx="255389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Monitored Endpoint</a:t>
            </a:r>
            <a:endParaRPr lang="en-US" sz="1069" dirty="0"/>
          </a:p>
        </p:txBody>
      </p:sp>
      <p:sp>
        <p:nvSpPr>
          <p:cNvPr id="17" name="Text 15"/>
          <p:cNvSpPr/>
          <p:nvPr/>
        </p:nvSpPr>
        <p:spPr>
          <a:xfrm>
            <a:off x="5954316" y="1593056"/>
            <a:ext cx="2553891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Ubuntu 24.04 VM (soc-snort) running the Wazuh agent plus Snort IDS from Week 9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31456" y="2159233"/>
            <a:ext cx="866470" cy="245274"/>
          </a:xfrm>
          <a:prstGeom prst="roundRect">
            <a:avLst>
              <a:gd name="adj" fmla="val 3879529"/>
            </a:avLst>
          </a:prstGeom>
          <a:solidFill>
            <a:srgbClr val="2DD4BF">
              <a:alpha val="13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54316" y="2172035"/>
            <a:ext cx="820750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192.168.56.102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0772" y="2688171"/>
            <a:ext cx="3346847" cy="1394482"/>
          </a:xfrm>
          <a:prstGeom prst="roundRect">
            <a:avLst>
              <a:gd name="adj" fmla="val 9563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9366" y="2852477"/>
            <a:ext cx="307181" cy="307181"/>
          </a:xfrm>
          <a:prstGeom prst="roundRect">
            <a:avLst>
              <a:gd name="adj" fmla="val 34109"/>
            </a:avLst>
          </a:prstGeom>
          <a:solidFill>
            <a:srgbClr val="2DD4BF">
              <a:alpha val="13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3834" y="2886946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1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17" dirty="0"/>
          </a:p>
        </p:txBody>
      </p:sp>
      <p:sp>
        <p:nvSpPr>
          <p:cNvPr id="23" name="Text 21"/>
          <p:cNvSpPr/>
          <p:nvPr/>
        </p:nvSpPr>
        <p:spPr>
          <a:xfrm>
            <a:off x="1078706" y="2848905"/>
            <a:ext cx="255389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Network</a:t>
            </a:r>
            <a:endParaRPr lang="en-US" sz="1069" dirty="0"/>
          </a:p>
        </p:txBody>
      </p:sp>
      <p:sp>
        <p:nvSpPr>
          <p:cNvPr id="24" name="Text 22"/>
          <p:cNvSpPr/>
          <p:nvPr/>
        </p:nvSpPr>
        <p:spPr>
          <a:xfrm>
            <a:off x="1078706" y="3102508"/>
            <a:ext cx="2553891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Host-only adapter for traffic + NAT for updates - fully isolated from real networks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943350" y="2688171"/>
            <a:ext cx="4739878" cy="1394482"/>
          </a:xfrm>
          <a:prstGeom prst="roundRect">
            <a:avLst>
              <a:gd name="adj" fmla="val 9563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21944" y="2852477"/>
            <a:ext cx="307181" cy="307181"/>
          </a:xfrm>
          <a:prstGeom prst="roundRect">
            <a:avLst>
              <a:gd name="adj" fmla="val 34109"/>
            </a:avLst>
          </a:prstGeom>
          <a:solidFill>
            <a:srgbClr val="2DD4BF">
              <a:alpha val="13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156412" y="2886946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1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17" dirty="0"/>
          </a:p>
        </p:txBody>
      </p:sp>
      <p:sp>
        <p:nvSpPr>
          <p:cNvPr id="28" name="Text 26"/>
          <p:cNvSpPr/>
          <p:nvPr/>
        </p:nvSpPr>
        <p:spPr>
          <a:xfrm>
            <a:off x="4561284" y="2848905"/>
            <a:ext cx="3946922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Deployed Components</a:t>
            </a:r>
            <a:endParaRPr lang="en-US" sz="1069" dirty="0"/>
          </a:p>
        </p:txBody>
      </p:sp>
      <p:sp>
        <p:nvSpPr>
          <p:cNvPr id="29" name="Text 27"/>
          <p:cNvSpPr/>
          <p:nvPr/>
        </p:nvSpPr>
        <p:spPr>
          <a:xfrm>
            <a:off x="4564856" y="3134655"/>
            <a:ext cx="1937742" cy="255389"/>
          </a:xfrm>
          <a:prstGeom prst="roundRect">
            <a:avLst>
              <a:gd name="adj" fmla="val 33566"/>
            </a:avLst>
          </a:prstGeom>
          <a:solidFill>
            <a:srgbClr val="16304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54153" y="3237347"/>
            <a:ext cx="50006" cy="50006"/>
          </a:xfrm>
          <a:prstGeom prst="roundRect">
            <a:avLst>
              <a:gd name="adj" fmla="val 66667"/>
            </a:avLst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561284" y="3131083"/>
            <a:ext cx="194488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wazuh-manager active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66892" y="3134655"/>
            <a:ext cx="1937742" cy="255389"/>
          </a:xfrm>
          <a:prstGeom prst="roundRect">
            <a:avLst>
              <a:gd name="adj" fmla="val 33566"/>
            </a:avLst>
          </a:prstGeom>
          <a:solidFill>
            <a:srgbClr val="16304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656189" y="3237347"/>
            <a:ext cx="50006" cy="50006"/>
          </a:xfrm>
          <a:prstGeom prst="roundRect">
            <a:avLst>
              <a:gd name="adj" fmla="val 66667"/>
            </a:avLst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563320" y="3131083"/>
            <a:ext cx="194488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wazuh-indexer active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64856" y="3454338"/>
            <a:ext cx="1937742" cy="255389"/>
          </a:xfrm>
          <a:prstGeom prst="roundRect">
            <a:avLst>
              <a:gd name="adj" fmla="val 33566"/>
            </a:avLst>
          </a:prstGeom>
          <a:solidFill>
            <a:srgbClr val="16304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54153" y="3557029"/>
            <a:ext cx="50006" cy="50006"/>
          </a:xfrm>
          <a:prstGeom prst="roundRect">
            <a:avLst>
              <a:gd name="adj" fmla="val 66667"/>
            </a:avLst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561284" y="3450766"/>
            <a:ext cx="194488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wazuh-dashboard active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66892" y="3454338"/>
            <a:ext cx="1937742" cy="255389"/>
          </a:xfrm>
          <a:prstGeom prst="roundRect">
            <a:avLst>
              <a:gd name="adj" fmla="val 33566"/>
            </a:avLst>
          </a:prstGeom>
          <a:solidFill>
            <a:srgbClr val="16304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656189" y="3557029"/>
            <a:ext cx="50006" cy="50006"/>
          </a:xfrm>
          <a:prstGeom prst="roundRect">
            <a:avLst>
              <a:gd name="adj" fmla="val 66667"/>
            </a:avLst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563320" y="3450766"/>
            <a:ext cx="1944886" cy="322600"/>
          </a:xfrm>
          <a:prstGeom prst="rect">
            <a:avLst/>
          </a:prstGeom>
          <a:noFill/>
          <a:ln/>
        </p:spPr>
        <p:txBody>
          <a:bodyPr wrap="none" lIns="85725" tIns="57150" rIns="85725" bIns="5715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wazuh-agent active on endpoint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0772" y="4218384"/>
            <a:ext cx="8222456" cy="592931"/>
          </a:xfrm>
          <a:prstGeom prst="roundRect">
            <a:avLst>
              <a:gd name="adj" fmla="val 22490"/>
            </a:avLst>
          </a:prstGeom>
          <a:solidFill>
            <a:srgbClr val="16304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147688" y="4407694"/>
            <a:ext cx="19073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688" dirty="0"/>
          </a:p>
        </p:txBody>
      </p:sp>
      <p:sp>
        <p:nvSpPr>
          <p:cNvPr id="43" name="Text 41"/>
          <p:cNvSpPr/>
          <p:nvPr/>
        </p:nvSpPr>
        <p:spPr>
          <a:xfrm>
            <a:off x="1352624" y="4445198"/>
            <a:ext cx="8690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VMs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225278" y="4221956"/>
            <a:ext cx="0" cy="585788"/>
          </a:xfrm>
          <a:prstGeom prst="line">
            <a:avLst/>
          </a:prstGeom>
          <a:noFill/>
          <a:ln w="7144">
            <a:solidFill>
              <a:srgbClr val="9FB0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2888754" y="4407694"/>
            <a:ext cx="19073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688" dirty="0"/>
          </a:p>
        </p:txBody>
      </p:sp>
      <p:sp>
        <p:nvSpPr>
          <p:cNvPr id="46" name="Text 44"/>
          <p:cNvSpPr/>
          <p:nvPr/>
        </p:nvSpPr>
        <p:spPr>
          <a:xfrm>
            <a:off x="3093690" y="4445198"/>
            <a:ext cx="8925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989784" y="4221956"/>
            <a:ext cx="0" cy="585788"/>
          </a:xfrm>
          <a:prstGeom prst="line">
            <a:avLst/>
          </a:prstGeom>
          <a:noFill/>
          <a:ln w="7144">
            <a:solidFill>
              <a:srgbClr val="9FB0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4495986" y="4407694"/>
            <a:ext cx="19073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688" dirty="0"/>
          </a:p>
        </p:txBody>
      </p:sp>
      <p:sp>
        <p:nvSpPr>
          <p:cNvPr id="49" name="Text 47"/>
          <p:cNvSpPr/>
          <p:nvPr/>
        </p:nvSpPr>
        <p:spPr>
          <a:xfrm>
            <a:off x="4700922" y="4445198"/>
            <a:ext cx="10497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services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754291" y="4221956"/>
            <a:ext cx="0" cy="585788"/>
          </a:xfrm>
          <a:prstGeom prst="line">
            <a:avLst/>
          </a:prstGeom>
          <a:noFill/>
          <a:ln w="7144">
            <a:solidFill>
              <a:srgbClr val="9FB0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6455383" y="4407694"/>
            <a:ext cx="19073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1688" dirty="0"/>
          </a:p>
        </p:txBody>
      </p:sp>
      <p:sp>
        <p:nvSpPr>
          <p:cNvPr id="52" name="Text 50"/>
          <p:cNvSpPr/>
          <p:nvPr/>
        </p:nvSpPr>
        <p:spPr>
          <a:xfrm>
            <a:off x="6660319" y="4452119"/>
            <a:ext cx="1876462" cy="14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7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budget spent - fully open source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391" y="-300037"/>
            <a:ext cx="259061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0"/>
              </a:lnSpc>
              <a:buNone/>
            </a:pPr>
            <a:r>
              <a:rPr lang="en-US" sz="11250" b="1" kern="0" spc="-450" dirty="0">
                <a:solidFill>
                  <a:srgbClr val="2DD4BF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1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73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CASE FILE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kern="0" spc="-23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Alert Storm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57200" y="1060847"/>
            <a:ext cx="557212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one monitored day the endpoint produced a full spread of security events - every one visible in a single pane of glass.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57200" y="1575197"/>
            <a:ext cx="3300413" cy="1041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4"/>
              </a:lnSpc>
              <a:buNone/>
            </a:pPr>
            <a:r>
              <a:rPr lang="en-US" sz="8438" b="1" kern="0" spc="-295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358</a:t>
            </a:r>
            <a:endParaRPr lang="en-US" sz="8438" dirty="0"/>
          </a:p>
        </p:txBody>
      </p:sp>
      <p:sp>
        <p:nvSpPr>
          <p:cNvPr id="7" name="Text 5"/>
          <p:cNvSpPr/>
          <p:nvPr/>
        </p:nvSpPr>
        <p:spPr>
          <a:xfrm>
            <a:off x="457200" y="2625328"/>
            <a:ext cx="35644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total alerts on snort-agent (001)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0772" y="3028950"/>
            <a:ext cx="1600200" cy="607219"/>
          </a:xfrm>
          <a:prstGeom prst="roundRect">
            <a:avLst>
              <a:gd name="adj" fmla="val 18824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8644" y="3132534"/>
            <a:ext cx="1364456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744" b="1" dirty="0">
                <a:solidFill>
                  <a:srgbClr val="9FB0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1744" dirty="0"/>
          </a:p>
        </p:txBody>
      </p:sp>
      <p:sp>
        <p:nvSpPr>
          <p:cNvPr id="10" name="Text 8"/>
          <p:cNvSpPr/>
          <p:nvPr/>
        </p:nvSpPr>
        <p:spPr>
          <a:xfrm>
            <a:off x="578644" y="3403997"/>
            <a:ext cx="13644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Critical (15+)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53841" y="3028950"/>
            <a:ext cx="1600200" cy="607219"/>
          </a:xfrm>
          <a:prstGeom prst="roundRect">
            <a:avLst>
              <a:gd name="adj" fmla="val 18824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71713" y="3132534"/>
            <a:ext cx="1364456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744" b="1" dirty="0">
                <a:solidFill>
                  <a:srgbClr val="9FB0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1744" dirty="0"/>
          </a:p>
        </p:txBody>
      </p:sp>
      <p:sp>
        <p:nvSpPr>
          <p:cNvPr id="13" name="Text 11"/>
          <p:cNvSpPr/>
          <p:nvPr/>
        </p:nvSpPr>
        <p:spPr>
          <a:xfrm>
            <a:off x="2271713" y="3403997"/>
            <a:ext cx="13644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High (12-14)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772" y="3729038"/>
            <a:ext cx="1600200" cy="607219"/>
          </a:xfrm>
          <a:prstGeom prst="roundRect">
            <a:avLst>
              <a:gd name="adj" fmla="val 18824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8644" y="3832622"/>
            <a:ext cx="1364456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744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129</a:t>
            </a:r>
            <a:endParaRPr lang="en-US" sz="1744" dirty="0"/>
          </a:p>
        </p:txBody>
      </p:sp>
      <p:sp>
        <p:nvSpPr>
          <p:cNvPr id="16" name="Text 14"/>
          <p:cNvSpPr/>
          <p:nvPr/>
        </p:nvSpPr>
        <p:spPr>
          <a:xfrm>
            <a:off x="578644" y="4104084"/>
            <a:ext cx="13644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Medium (7-11)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53841" y="3729038"/>
            <a:ext cx="1600200" cy="607219"/>
          </a:xfrm>
          <a:prstGeom prst="roundRect">
            <a:avLst>
              <a:gd name="adj" fmla="val 18824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271713" y="3832622"/>
            <a:ext cx="1364456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744" b="1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177</a:t>
            </a:r>
            <a:endParaRPr lang="en-US" sz="1744" dirty="0"/>
          </a:p>
        </p:txBody>
      </p:sp>
      <p:sp>
        <p:nvSpPr>
          <p:cNvPr id="19" name="Text 17"/>
          <p:cNvSpPr/>
          <p:nvPr/>
        </p:nvSpPr>
        <p:spPr>
          <a:xfrm>
            <a:off x="2271713" y="4104084"/>
            <a:ext cx="13644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Low (0-6)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4568128"/>
            <a:ext cx="818183" cy="259561"/>
          </a:xfrm>
          <a:prstGeom prst="roundRect">
            <a:avLst>
              <a:gd name="adj" fmla="val 3665988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4862" y="4645223"/>
            <a:ext cx="718268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703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 failures</a:t>
            </a:r>
            <a:endParaRPr lang="en-US" sz="703" dirty="0"/>
          </a:p>
        </p:txBody>
      </p:sp>
      <p:sp>
        <p:nvSpPr>
          <p:cNvPr id="22" name="Text 20"/>
          <p:cNvSpPr/>
          <p:nvPr/>
        </p:nvSpPr>
        <p:spPr>
          <a:xfrm>
            <a:off x="564356" y="4630936"/>
            <a:ext cx="60387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46820" y="4568128"/>
            <a:ext cx="996888" cy="259561"/>
          </a:xfrm>
          <a:prstGeom prst="roundRect">
            <a:avLst>
              <a:gd name="adj" fmla="val 3665988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596182" y="4645223"/>
            <a:ext cx="783245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703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 successes</a:t>
            </a:r>
            <a:endParaRPr lang="en-US" sz="703" dirty="0"/>
          </a:p>
        </p:txBody>
      </p:sp>
      <p:sp>
        <p:nvSpPr>
          <p:cNvPr id="25" name="Text 23"/>
          <p:cNvSpPr/>
          <p:nvPr/>
        </p:nvSpPr>
        <p:spPr>
          <a:xfrm>
            <a:off x="1453976" y="4630936"/>
            <a:ext cx="78257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415146" y="4568128"/>
            <a:ext cx="773311" cy="259561"/>
          </a:xfrm>
          <a:prstGeom prst="roundRect">
            <a:avLst>
              <a:gd name="adj" fmla="val 3665988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614836" y="4645223"/>
            <a:ext cx="1142777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FIM events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22302" y="4630936"/>
            <a:ext cx="55899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989784" y="1578769"/>
            <a:ext cx="4693444" cy="3032522"/>
          </a:xfrm>
          <a:prstGeom prst="roundRect">
            <a:avLst>
              <a:gd name="adj" fmla="val 3769"/>
            </a:avLst>
          </a:prstGeom>
          <a:solidFill>
            <a:srgbClr val="0A1626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0" descr="/tmp/h2p-fit-1793198739372-demuy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356" y="1582341"/>
            <a:ext cx="4686300" cy="274141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3993356" y="4323755"/>
            <a:ext cx="4686300" cy="283964"/>
          </a:xfrm>
          <a:prstGeom prst="rect">
            <a:avLst/>
          </a:prstGeom>
          <a:solidFill>
            <a:srgbClr val="0A16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3993356" y="4327327"/>
            <a:ext cx="4686300" cy="0"/>
          </a:xfrm>
          <a:prstGeom prst="line">
            <a:avLst/>
          </a:prstGeom>
          <a:noFill/>
          <a:ln w="7144">
            <a:solidFill>
              <a:srgbClr val="9FB0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4093369" y="441215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4271963" y="4402336"/>
            <a:ext cx="4307681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Wazuh Overview - agents summary &amp; alerts by severity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986213" y="4686300"/>
            <a:ext cx="47005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i="1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Severity snapshot from the Overview dashboard (last 24 hours); totals from Threat Hunting events view.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63600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73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CASE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25066"/>
            <a:ext cx="863600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b="1" kern="0" spc="-2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Someone Is Knocking - an SSH Intrusion Attempt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57200" y="1067991"/>
            <a:ext cx="4943475" cy="61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00" dirty="0">
                <a:solidFill>
                  <a:srgbClr val="F2F6FC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 </a:t>
            </a:r>
            <a:r>
              <a:rPr lang="en-US" sz="900" dirty="0">
                <a:solidFill>
                  <a:srgbClr val="2DD4BF">
                    <a:alpha val="9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17:02</a:t>
            </a:r>
            <a:r>
              <a:rPr lang="en-US" sz="900" dirty="0">
                <a:solidFill>
                  <a:srgbClr val="F2F6FC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dashboard lit up: repeated SSH logins using a user that does not exist. </a:t>
            </a:r>
            <a:r>
              <a:rPr lang="en-US" sz="900" dirty="0">
                <a:solidFill>
                  <a:srgbClr val="2DD4B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wronguser</a:t>
            </a:r>
            <a:r>
              <a:rPr lang="en-US" sz="900" dirty="0">
                <a:solidFill>
                  <a:srgbClr val="F2F6FC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knocked on soc-snort again and again - first from localhost, then from the host machine </a:t>
            </a:r>
            <a:r>
              <a:rPr lang="en-US" sz="900" dirty="0">
                <a:solidFill>
                  <a:srgbClr val="F2F6FC">
                    <a:alpha val="9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192.168.56.1</a:t>
            </a:r>
            <a:r>
              <a:rPr lang="en-US" sz="900" dirty="0">
                <a:solidFill>
                  <a:srgbClr val="F2F6FC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 the host-only network.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60772" y="1780022"/>
            <a:ext cx="2789188" cy="266105"/>
          </a:xfrm>
          <a:prstGeom prst="roundRect">
            <a:avLst>
              <a:gd name="adj" fmla="val 3575835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2931" y="1840743"/>
            <a:ext cx="64405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Rule 5710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4760" y="1843422"/>
            <a:ext cx="2112769" cy="141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 sshd: attempt to login using a non-existent user</a:t>
            </a:r>
            <a:endParaRPr lang="en-US" sz="731" dirty="0"/>
          </a:p>
        </p:txBody>
      </p:sp>
      <p:sp>
        <p:nvSpPr>
          <p:cNvPr id="8" name="Text 6"/>
          <p:cNvSpPr/>
          <p:nvPr/>
        </p:nvSpPr>
        <p:spPr>
          <a:xfrm>
            <a:off x="460772" y="2117564"/>
            <a:ext cx="1739392" cy="266105"/>
          </a:xfrm>
          <a:prstGeom prst="roundRect">
            <a:avLst>
              <a:gd name="adj" fmla="val 3575835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2931" y="2178286"/>
            <a:ext cx="64405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Rule 5503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4760" y="2180965"/>
            <a:ext cx="953244" cy="141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 PAM: user login failed</a:t>
            </a:r>
            <a:endParaRPr lang="en-US" sz="731" dirty="0"/>
          </a:p>
        </p:txBody>
      </p:sp>
      <p:sp>
        <p:nvSpPr>
          <p:cNvPr id="11" name="Text 9"/>
          <p:cNvSpPr/>
          <p:nvPr/>
        </p:nvSpPr>
        <p:spPr>
          <a:xfrm>
            <a:off x="460772" y="2455106"/>
            <a:ext cx="3041228" cy="266105"/>
          </a:xfrm>
          <a:prstGeom prst="roundRect">
            <a:avLst>
              <a:gd name="adj" fmla="val 3575835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2931" y="2515828"/>
            <a:ext cx="125266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MITRE ATT&amp;CK T1110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66503" y="2518507"/>
            <a:ext cx="1805538" cy="141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 Credential Access / Password Guessing</a:t>
            </a:r>
            <a:endParaRPr lang="en-US" sz="731" dirty="0"/>
          </a:p>
        </p:txBody>
      </p:sp>
      <p:sp>
        <p:nvSpPr>
          <p:cNvPr id="14" name="Text 12"/>
          <p:cNvSpPr/>
          <p:nvPr/>
        </p:nvSpPr>
        <p:spPr>
          <a:xfrm>
            <a:off x="460772" y="3851263"/>
            <a:ext cx="2407444" cy="974341"/>
          </a:xfrm>
          <a:prstGeom prst="roundRect">
            <a:avLst>
              <a:gd name="adj" fmla="val 13686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506" y="4015569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36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16" name="Text 14"/>
          <p:cNvSpPr/>
          <p:nvPr/>
        </p:nvSpPr>
        <p:spPr>
          <a:xfrm>
            <a:off x="821531" y="3997709"/>
            <a:ext cx="18859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Pattern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506" y="4233453"/>
            <a:ext cx="2085975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attempt fired an alert </a:t>
            </a: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PAIR</a:t>
            </a: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sshd (5710) plus PAM (5503) within seconds - two independent logs confirming the same event.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89659" y="3851263"/>
            <a:ext cx="2407444" cy="974341"/>
          </a:xfrm>
          <a:prstGeom prst="roundRect">
            <a:avLst>
              <a:gd name="adj" fmla="val 13686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150394" y="4015569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36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336" dirty="0"/>
          </a:p>
        </p:txBody>
      </p:sp>
      <p:sp>
        <p:nvSpPr>
          <p:cNvPr id="20" name="Text 18"/>
          <p:cNvSpPr/>
          <p:nvPr/>
        </p:nvSpPr>
        <p:spPr>
          <a:xfrm>
            <a:off x="3350419" y="3997709"/>
            <a:ext cx="18859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50394" y="4233453"/>
            <a:ext cx="2085975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Username guessing is classic brute-force behavior. In a real network, a burst like this from one IP deserves an immediate block - not a shrug.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04272" y="1071563"/>
            <a:ext cx="3078956" cy="3754041"/>
          </a:xfrm>
          <a:prstGeom prst="roundRect">
            <a:avLst>
              <a:gd name="adj" fmla="val 3712"/>
            </a:avLst>
          </a:prstGeom>
          <a:solidFill>
            <a:srgbClr val="0A1626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0" descr="/tmp/h2p-fit-1793198739080-cpn7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844" y="1075134"/>
            <a:ext cx="3071813" cy="346293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607844" y="4538067"/>
            <a:ext cx="3071813" cy="283964"/>
          </a:xfrm>
          <a:prstGeom prst="rect">
            <a:avLst/>
          </a:prstGeom>
          <a:solidFill>
            <a:srgbClr val="0A16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5607844" y="4541639"/>
            <a:ext cx="3071813" cy="0"/>
          </a:xfrm>
          <a:prstGeom prst="line">
            <a:avLst/>
          </a:prstGeom>
          <a:noFill/>
          <a:ln w="7144">
            <a:solidFill>
              <a:srgbClr val="9FB0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5707856" y="462647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5886450" y="4616648"/>
            <a:ext cx="2693194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Threat Hunting events - sshd search, 7 hits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82921" y="-271462"/>
            <a:ext cx="2461079" cy="146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88"/>
              </a:lnSpc>
              <a:buNone/>
            </a:pPr>
            <a:r>
              <a:rPr lang="en-US" sz="10688" b="1" kern="0" spc="-427" dirty="0">
                <a:solidFill>
                  <a:srgbClr val="F2F6FC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0688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73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EVIDENCE 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kern="0" spc="-23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Alerts, One Story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94" y="1246584"/>
            <a:ext cx="14288" cy="34825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4344" y="1246584"/>
            <a:ext cx="128588" cy="128588"/>
          </a:xfrm>
          <a:prstGeom prst="ellipse">
            <a:avLst/>
          </a:prstGeom>
          <a:solidFill>
            <a:srgbClr val="2DD4BF"/>
          </a:solidFill>
          <a:ln w="14288">
            <a:solidFill>
              <a:srgbClr val="2DD4BF"/>
            </a:solidFill>
            <a:prstDash val="solid"/>
          </a:ln>
          <a:effectLst>
            <a:outerShdw blurRad="95250" dist="50800" dir="16200000" algn="bl" rotWithShape="0">
              <a:srgbClr val="2DD4BF">
                <a:alpha val="5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57238" y="1203722"/>
            <a:ext cx="101398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17:02:04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1520190" y="1190920"/>
            <a:ext cx="874841" cy="239916"/>
          </a:xfrm>
          <a:prstGeom prst="roundRect">
            <a:avLst>
              <a:gd name="adj" fmla="val 3966169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632462" y="1246584"/>
            <a:ext cx="2585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755901" y="1246584"/>
            <a:ext cx="6035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9FB0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 Rule 5710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2486471" y="1203722"/>
            <a:ext cx="35428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sshd: attempt to login using a non-existent user - first knock with </a:t>
            </a:r>
            <a:r>
              <a:rPr lang="en-US" sz="788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wronguser</a:t>
            </a:r>
            <a:endParaRPr lang="en-US" sz="788" dirty="0"/>
          </a:p>
        </p:txBody>
      </p:sp>
      <p:sp>
        <p:nvSpPr>
          <p:cNvPr id="12" name="Text 9"/>
          <p:cNvSpPr/>
          <p:nvPr/>
        </p:nvSpPr>
        <p:spPr>
          <a:xfrm>
            <a:off x="464344" y="2085082"/>
            <a:ext cx="128588" cy="128588"/>
          </a:xfrm>
          <a:prstGeom prst="ellipse">
            <a:avLst/>
          </a:prstGeom>
          <a:solidFill>
            <a:srgbClr val="2DD4BF"/>
          </a:solidFill>
          <a:ln w="14288">
            <a:solidFill>
              <a:srgbClr val="2DD4BF"/>
            </a:solidFill>
            <a:prstDash val="solid"/>
          </a:ln>
          <a:effectLst>
            <a:outerShdw blurRad="95250" dist="50800" dir="16200000" algn="bl" rotWithShape="0">
              <a:srgbClr val="2DD4BF">
                <a:alpha val="5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57238" y="2042220"/>
            <a:ext cx="101398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17:02:12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1520190" y="2029418"/>
            <a:ext cx="874841" cy="239916"/>
          </a:xfrm>
          <a:prstGeom prst="roundRect">
            <a:avLst>
              <a:gd name="adj" fmla="val 3966169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632462" y="2085082"/>
            <a:ext cx="2585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A02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755901" y="2085082"/>
            <a:ext cx="6035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9FB0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 Rule 5503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2486471" y="2042220"/>
            <a:ext cx="35428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PAM: user login failed - the OS confirms the rejection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64344" y="2923580"/>
            <a:ext cx="128588" cy="128588"/>
          </a:xfrm>
          <a:prstGeom prst="ellipse">
            <a:avLst/>
          </a:prstGeom>
          <a:solidFill>
            <a:srgbClr val="2DD4BF"/>
          </a:solidFill>
          <a:ln w="14288">
            <a:solidFill>
              <a:srgbClr val="2DD4BF"/>
            </a:solidFill>
            <a:prstDash val="solid"/>
          </a:ln>
          <a:effectLst>
            <a:outerShdw blurRad="95250" dist="50800" dir="16200000" algn="bl" rotWithShape="0">
              <a:srgbClr val="2DD4BF">
                <a:alpha val="5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57238" y="2880717"/>
            <a:ext cx="101398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17:02:14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1520190" y="2867916"/>
            <a:ext cx="874841" cy="239916"/>
          </a:xfrm>
          <a:prstGeom prst="roundRect">
            <a:avLst>
              <a:gd name="adj" fmla="val 3966169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632462" y="2923580"/>
            <a:ext cx="2585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A03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755901" y="2923580"/>
            <a:ext cx="6035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9FB0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 Rule 5710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2486471" y="2880717"/>
            <a:ext cx="35428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attempt just </a:t>
            </a:r>
            <a:r>
              <a:rPr lang="en-US" sz="788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seconds</a:t>
            </a:r>
            <a:r>
              <a:rPr lang="en-US" sz="788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later - a guessing pattern, not a typo</a:t>
            </a:r>
            <a:endParaRPr lang="en-US" sz="788" dirty="0"/>
          </a:p>
        </p:txBody>
      </p:sp>
      <p:sp>
        <p:nvSpPr>
          <p:cNvPr id="24" name="Text 21"/>
          <p:cNvSpPr/>
          <p:nvPr/>
        </p:nvSpPr>
        <p:spPr>
          <a:xfrm>
            <a:off x="464344" y="3762077"/>
            <a:ext cx="128588" cy="128588"/>
          </a:xfrm>
          <a:prstGeom prst="ellipse">
            <a:avLst/>
          </a:prstGeom>
          <a:solidFill>
            <a:srgbClr val="2DD4BF"/>
          </a:solidFill>
          <a:ln w="14288">
            <a:solidFill>
              <a:srgbClr val="2DD4BF"/>
            </a:solidFill>
            <a:prstDash val="solid"/>
          </a:ln>
          <a:effectLst>
            <a:outerShdw blurRad="95250" dist="50800" dir="16200000" algn="bl" rotWithShape="0">
              <a:srgbClr val="2DD4BF">
                <a:alpha val="5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757238" y="3719215"/>
            <a:ext cx="101398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17:04:44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1520190" y="3706413"/>
            <a:ext cx="874841" cy="239916"/>
          </a:xfrm>
          <a:prstGeom prst="roundRect">
            <a:avLst>
              <a:gd name="adj" fmla="val 3966169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632462" y="3762077"/>
            <a:ext cx="2585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A04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755901" y="3762077"/>
            <a:ext cx="6035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9FB0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 Rule 5710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2486471" y="3719215"/>
            <a:ext cx="35428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wave, this time from the host machine </a:t>
            </a:r>
            <a:r>
              <a:rPr lang="en-US" sz="800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192.168.56.1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64344" y="4600575"/>
            <a:ext cx="128588" cy="128588"/>
          </a:xfrm>
          <a:prstGeom prst="ellipse">
            <a:avLst/>
          </a:prstGeom>
          <a:solidFill>
            <a:srgbClr val="0B1B33"/>
          </a:solidFill>
          <a:ln w="14288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57238" y="4557713"/>
            <a:ext cx="101398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17:04:48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1520190" y="4544911"/>
            <a:ext cx="874841" cy="239916"/>
          </a:xfrm>
          <a:prstGeom prst="roundRect">
            <a:avLst>
              <a:gd name="adj" fmla="val 3966169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1632462" y="4600575"/>
            <a:ext cx="2585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A05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755901" y="4600575"/>
            <a:ext cx="6035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9FB0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 Rule 5503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2486471" y="4557713"/>
            <a:ext cx="35428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failed password - after this, silence. No success ever followed.</a:t>
            </a:r>
            <a:endParaRPr lang="en-US" sz="788" dirty="0"/>
          </a:p>
        </p:txBody>
      </p:sp>
      <p:sp>
        <p:nvSpPr>
          <p:cNvPr id="36" name="Text 33"/>
          <p:cNvSpPr/>
          <p:nvPr/>
        </p:nvSpPr>
        <p:spPr>
          <a:xfrm>
            <a:off x="6290072" y="1178719"/>
            <a:ext cx="2393156" cy="3618309"/>
          </a:xfrm>
          <a:prstGeom prst="roundRect">
            <a:avLst>
              <a:gd name="adj" fmla="val 5572"/>
            </a:avLst>
          </a:prstGeom>
          <a:solidFill>
            <a:srgbClr val="2DD4BF">
              <a:alpha val="13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6482953" y="1385888"/>
            <a:ext cx="335756" cy="335756"/>
          </a:xfrm>
          <a:prstGeom prst="roundRect">
            <a:avLst>
              <a:gd name="adj" fmla="val 34043"/>
            </a:avLst>
          </a:prstGeom>
          <a:solidFill>
            <a:srgbClr val="2DD4BF">
              <a:alpha val="16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521351" y="1424285"/>
            <a:ext cx="25896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5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758" dirty="0"/>
          </a:p>
        </p:txBody>
      </p:sp>
      <p:sp>
        <p:nvSpPr>
          <p:cNvPr id="39" name="Text 36"/>
          <p:cNvSpPr/>
          <p:nvPr/>
        </p:nvSpPr>
        <p:spPr>
          <a:xfrm>
            <a:off x="6479381" y="1868091"/>
            <a:ext cx="2014538" cy="1046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6"/>
              </a:lnSpc>
              <a:buNone/>
            </a:pPr>
            <a:r>
              <a:rPr lang="en-US" sz="872" b="1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Analyst read:</a:t>
            </a:r>
            <a:r>
              <a:rPr lang="en-US" sz="872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repeated invalid-user attempts from two sources, always paired sshd + PAM, zero successful logins. A controlled test - and a true detection.</a:t>
            </a:r>
            <a:endParaRPr lang="en-US" sz="872" dirty="0"/>
          </a:p>
        </p:txBody>
      </p:sp>
      <p:sp>
        <p:nvSpPr>
          <p:cNvPr id="40" name="Text 37"/>
          <p:cNvSpPr/>
          <p:nvPr/>
        </p:nvSpPr>
        <p:spPr>
          <a:xfrm>
            <a:off x="6479381" y="4557713"/>
            <a:ext cx="157163" cy="35719"/>
          </a:xfrm>
          <a:prstGeom prst="roundRect">
            <a:avLst>
              <a:gd name="adj" fmla="val 79999"/>
            </a:avLst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679406" y="4557713"/>
            <a:ext cx="157163" cy="35719"/>
          </a:xfrm>
          <a:prstGeom prst="roundRect">
            <a:avLst>
              <a:gd name="adj" fmla="val 79999"/>
            </a:avLst>
          </a:prstGeom>
          <a:solidFill>
            <a:srgbClr val="2DD4BF">
              <a:alpha val="7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879431" y="4557713"/>
            <a:ext cx="157163" cy="35719"/>
          </a:xfrm>
          <a:prstGeom prst="roundRect">
            <a:avLst>
              <a:gd name="adj" fmla="val 79999"/>
            </a:avLst>
          </a:prstGeom>
          <a:solidFill>
            <a:srgbClr val="2DD4BF">
              <a:alpha val="5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7079456" y="4557713"/>
            <a:ext cx="157163" cy="35719"/>
          </a:xfrm>
          <a:prstGeom prst="roundRect">
            <a:avLst>
              <a:gd name="adj" fmla="val 79999"/>
            </a:avLst>
          </a:prstGeom>
          <a:solidFill>
            <a:srgbClr val="2DD4BF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7279481" y="4557713"/>
            <a:ext cx="157163" cy="35719"/>
          </a:xfrm>
          <a:prstGeom prst="roundRect">
            <a:avLst>
              <a:gd name="adj" fmla="val 79999"/>
            </a:avLst>
          </a:prstGeom>
          <a:solidFill>
            <a:srgbClr val="2DD4BF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75" y="-1000125"/>
            <a:ext cx="3000375" cy="3000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0875" y="-1000125"/>
            <a:ext cx="3000375" cy="3000375"/>
          </a:xfrm>
          <a:prstGeom prst="ellipse">
            <a:avLst/>
          </a:prstGeom>
          <a:solidFill>
            <a:srgbClr val="2DD4B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8625" y="357188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73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VERDICT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28625" y="546497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3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Happened </a:t>
            </a:r>
            <a:r>
              <a:rPr lang="en-US" sz="2250" b="1" kern="0" spc="-34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</a:t>
            </a:r>
            <a:r>
              <a:rPr lang="en-US" sz="2250" b="1" kern="0" spc="-3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What It Means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32197" y="1050131"/>
            <a:ext cx="4553024" cy="3189684"/>
          </a:xfrm>
          <a:prstGeom prst="roundRect">
            <a:avLst>
              <a:gd name="adj" fmla="val 4181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35794" y="125372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8" name="Text 5"/>
          <p:cNvSpPr/>
          <p:nvPr/>
        </p:nvSpPr>
        <p:spPr>
          <a:xfrm>
            <a:off x="864394" y="1225153"/>
            <a:ext cx="3917231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Findings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635794" y="1539478"/>
            <a:ext cx="4145831" cy="7144"/>
          </a:xfrm>
          <a:prstGeom prst="rect">
            <a:avLst/>
          </a:prstGeom>
          <a:solidFill>
            <a:srgbClr val="9FB0C7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35794" y="1908721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11" name="Text 8"/>
          <p:cNvSpPr/>
          <p:nvPr/>
        </p:nvSpPr>
        <p:spPr>
          <a:xfrm>
            <a:off x="871538" y="1901577"/>
            <a:ext cx="3910087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login attempts </a:t>
            </a:r>
            <a:r>
              <a:rPr lang="en-US" sz="84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FAILED</a:t>
            </a:r>
            <a:r>
              <a:rPr lang="en-US" sz="844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- no account was ever compromised</a:t>
            </a:r>
            <a:endParaRPr lang="en-US" sz="844" dirty="0"/>
          </a:p>
        </p:txBody>
      </p:sp>
      <p:sp>
        <p:nvSpPr>
          <p:cNvPr id="12" name="Shape 9"/>
          <p:cNvSpPr/>
          <p:nvPr/>
        </p:nvSpPr>
        <p:spPr>
          <a:xfrm>
            <a:off x="635794" y="2392263"/>
            <a:ext cx="4145831" cy="0"/>
          </a:xfrm>
          <a:prstGeom prst="line">
            <a:avLst/>
          </a:prstGeom>
          <a:noFill/>
          <a:ln w="7144">
            <a:solidFill>
              <a:srgbClr val="9FB0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35794" y="2467273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14" name="Text 11"/>
          <p:cNvSpPr/>
          <p:nvPr/>
        </p:nvSpPr>
        <p:spPr>
          <a:xfrm>
            <a:off x="871538" y="2460129"/>
            <a:ext cx="3910087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</a:t>
            </a:r>
            <a:r>
              <a:rPr lang="en-US" sz="84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privilege escalation</a:t>
            </a:r>
            <a:r>
              <a:rPr lang="en-US" sz="844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no sudo abuse, no suspicious files</a:t>
            </a:r>
            <a:endParaRPr lang="en-US" sz="844" dirty="0"/>
          </a:p>
        </p:txBody>
      </p:sp>
      <p:sp>
        <p:nvSpPr>
          <p:cNvPr id="15" name="Shape 12"/>
          <p:cNvSpPr/>
          <p:nvPr/>
        </p:nvSpPr>
        <p:spPr>
          <a:xfrm>
            <a:off x="635794" y="2950815"/>
            <a:ext cx="4145831" cy="0"/>
          </a:xfrm>
          <a:prstGeom prst="line">
            <a:avLst/>
          </a:prstGeom>
          <a:noFill/>
          <a:ln w="7144">
            <a:solidFill>
              <a:srgbClr val="9FB0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35794" y="3025825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17" name="Text 14"/>
          <p:cNvSpPr/>
          <p:nvPr/>
        </p:nvSpPr>
        <p:spPr>
          <a:xfrm>
            <a:off x="871538" y="3018681"/>
            <a:ext cx="3910087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Sources identified: </a:t>
            </a:r>
            <a:r>
              <a:rPr lang="en-US" sz="84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localhost</a:t>
            </a:r>
            <a:r>
              <a:rPr lang="en-US" sz="844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r>
              <a:rPr lang="en-US" sz="844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192.168.56.1</a:t>
            </a:r>
            <a:r>
              <a:rPr lang="en-US" sz="844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(my own host)</a:t>
            </a:r>
            <a:endParaRPr lang="en-US" sz="844" dirty="0"/>
          </a:p>
        </p:txBody>
      </p:sp>
      <p:sp>
        <p:nvSpPr>
          <p:cNvPr id="18" name="Shape 15"/>
          <p:cNvSpPr/>
          <p:nvPr/>
        </p:nvSpPr>
        <p:spPr>
          <a:xfrm>
            <a:off x="635794" y="3509367"/>
            <a:ext cx="4145831" cy="0"/>
          </a:xfrm>
          <a:prstGeom prst="line">
            <a:avLst/>
          </a:prstGeom>
          <a:noFill/>
          <a:ln w="7144">
            <a:solidFill>
              <a:srgbClr val="9FB0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35794" y="3584377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20" name="Text 17"/>
          <p:cNvSpPr/>
          <p:nvPr/>
        </p:nvSpPr>
        <p:spPr>
          <a:xfrm>
            <a:off x="871538" y="3577233"/>
            <a:ext cx="3910087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True positive:</a:t>
            </a:r>
            <a:r>
              <a:rPr lang="en-US" sz="844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 simulated attack detected exactly as designed</a:t>
            </a:r>
            <a:endParaRPr lang="en-US" sz="844" dirty="0"/>
          </a:p>
        </p:txBody>
      </p:sp>
      <p:sp>
        <p:nvSpPr>
          <p:cNvPr id="21" name="Text 18"/>
          <p:cNvSpPr/>
          <p:nvPr/>
        </p:nvSpPr>
        <p:spPr>
          <a:xfrm>
            <a:off x="5163815" y="1050131"/>
            <a:ext cx="3547988" cy="3189684"/>
          </a:xfrm>
          <a:prstGeom prst="roundRect">
            <a:avLst>
              <a:gd name="adj" fmla="val 4181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367412" y="125372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3" name="Text 20"/>
          <p:cNvSpPr/>
          <p:nvPr/>
        </p:nvSpPr>
        <p:spPr>
          <a:xfrm>
            <a:off x="5596012" y="1225153"/>
            <a:ext cx="291219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Severity Assessment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5367412" y="1539478"/>
            <a:ext cx="3140794" cy="7144"/>
          </a:xfrm>
          <a:prstGeom prst="rect">
            <a:avLst/>
          </a:prstGeom>
          <a:solidFill>
            <a:srgbClr val="9FB0C7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370984" y="1664494"/>
            <a:ext cx="3133651" cy="575072"/>
          </a:xfrm>
          <a:prstGeom prst="roundRect">
            <a:avLst>
              <a:gd name="adj" fmla="val 19876"/>
            </a:avLst>
          </a:prstGeom>
          <a:solidFill>
            <a:srgbClr val="0B1B33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517431" y="1794867"/>
            <a:ext cx="1188184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kern="0" spc="25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</a:t>
            </a:r>
            <a:endParaRPr lang="en-US" sz="2475" dirty="0"/>
          </a:p>
        </p:txBody>
      </p:sp>
      <p:sp>
        <p:nvSpPr>
          <p:cNvPr id="27" name="Text 24"/>
          <p:cNvSpPr/>
          <p:nvPr/>
        </p:nvSpPr>
        <p:spPr>
          <a:xfrm>
            <a:off x="6388633" y="1794867"/>
            <a:ext cx="7144" cy="314325"/>
          </a:xfrm>
          <a:prstGeom prst="rect">
            <a:avLst/>
          </a:prstGeom>
          <a:solidFill>
            <a:srgbClr val="9FB0C7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507162" y="1756291"/>
            <a:ext cx="464482" cy="220028"/>
          </a:xfrm>
          <a:prstGeom prst="roundRect">
            <a:avLst>
              <a:gd name="adj" fmla="val 4324665"/>
            </a:avLst>
          </a:prstGeom>
          <a:solidFill>
            <a:srgbClr val="2DD4BF">
              <a:alpha val="13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524365" y="1768078"/>
            <a:ext cx="430076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LVL 5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524365" y="2007394"/>
            <a:ext cx="65530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27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severity level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5367412" y="255031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2" name="Text 29"/>
          <p:cNvSpPr/>
          <p:nvPr/>
        </p:nvSpPr>
        <p:spPr>
          <a:xfrm>
            <a:off x="5596012" y="2536031"/>
            <a:ext cx="2912194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Rated </a:t>
            </a:r>
            <a:r>
              <a:rPr lang="en-US" sz="816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LOW (level 5)</a:t>
            </a:r>
            <a:r>
              <a:rPr lang="en-US" sz="816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by Wazuh rules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5367412" y="29575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34" name="Text 31"/>
          <p:cNvSpPr/>
          <p:nvPr/>
        </p:nvSpPr>
        <p:spPr>
          <a:xfrm>
            <a:off x="5596012" y="2943225"/>
            <a:ext cx="2912194" cy="33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Escalates to </a:t>
            </a:r>
            <a:r>
              <a:rPr lang="en-US" sz="816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MEDIUM/HIGH</a:t>
            </a:r>
            <a:r>
              <a:rPr lang="en-US" sz="816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if: many attempts per minute, a valid user is targeted, or any login succeeds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5367412" y="351829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36" name="Text 33"/>
          <p:cNvSpPr/>
          <p:nvPr/>
        </p:nvSpPr>
        <p:spPr>
          <a:xfrm>
            <a:off x="5596012" y="3504009"/>
            <a:ext cx="2912194" cy="33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MITRE ATT&amp;CK </a:t>
            </a:r>
            <a:r>
              <a:rPr lang="en-US" sz="816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T1110</a:t>
            </a:r>
            <a:r>
              <a:rPr lang="en-US" sz="816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- Credential Access technique confirmed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432197" y="4404122"/>
            <a:ext cx="8279606" cy="435769"/>
          </a:xfrm>
          <a:prstGeom prst="roundRect">
            <a:avLst>
              <a:gd name="adj" fmla="val 30601"/>
            </a:avLst>
          </a:prstGeom>
          <a:solidFill>
            <a:srgbClr val="2DD4BF">
              <a:alpha val="13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07219" y="452913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828" dirty="0"/>
          </a:p>
        </p:txBody>
      </p:sp>
      <p:sp>
        <p:nvSpPr>
          <p:cNvPr id="39" name="Text 36"/>
          <p:cNvSpPr/>
          <p:nvPr/>
        </p:nvSpPr>
        <p:spPr>
          <a:xfrm>
            <a:off x="907256" y="4538960"/>
            <a:ext cx="7629525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Analyst call:</a:t>
            </a:r>
            <a:r>
              <a:rPr lang="en-US" sz="872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treat every invalid-user burst as reconnaissance - today a test, tomorrow a real attacker probing the same way.</a:t>
            </a:r>
            <a:endParaRPr lang="en-US" sz="87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4290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73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BONUS HUNT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32209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3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Snort </a:t>
            </a:r>
            <a:r>
              <a:rPr lang="en-US" sz="2250" b="1" kern="0" spc="-34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r>
              <a:rPr lang="en-US" sz="2250" b="1" kern="0" spc="-3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Wazuh - Network Meets Host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28625" y="917972"/>
            <a:ext cx="614362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 wired the Week 9 Snort IDS straight into Wazuh, so network alerts and host alerts finally live in one dashboard.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32197" y="1225153"/>
            <a:ext cx="4736306" cy="745629"/>
          </a:xfrm>
          <a:prstGeom prst="roundRect">
            <a:avLst>
              <a:gd name="adj" fmla="val 17884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2931" y="1458664"/>
            <a:ext cx="502920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463" dirty="0"/>
          </a:p>
        </p:txBody>
      </p:sp>
      <p:sp>
        <p:nvSpPr>
          <p:cNvPr id="7" name="Text 5"/>
          <p:cNvSpPr/>
          <p:nvPr/>
        </p:nvSpPr>
        <p:spPr>
          <a:xfrm>
            <a:off x="1035844" y="1328738"/>
            <a:ext cx="7144" cy="538460"/>
          </a:xfrm>
          <a:prstGeom prst="rect">
            <a:avLst/>
          </a:prstGeom>
          <a:solidFill>
            <a:srgbClr val="9FB0C7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71575" y="1428973"/>
            <a:ext cx="1637996" cy="1708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28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Snort detects</a:t>
            </a:r>
            <a:endParaRPr lang="en-US" sz="928" dirty="0"/>
          </a:p>
        </p:txBody>
      </p:sp>
      <p:sp>
        <p:nvSpPr>
          <p:cNvPr id="9" name="Text 7"/>
          <p:cNvSpPr/>
          <p:nvPr/>
        </p:nvSpPr>
        <p:spPr>
          <a:xfrm>
            <a:off x="1171575" y="1627212"/>
            <a:ext cx="1509416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759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ICMP ping rule </a:t>
            </a:r>
            <a:r>
              <a:rPr lang="en-US" sz="759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sid 1000001</a:t>
            </a:r>
            <a:r>
              <a:rPr lang="en-US" sz="759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fires</a:t>
            </a:r>
            <a:endParaRPr lang="en-US" sz="759" dirty="0"/>
          </a:p>
        </p:txBody>
      </p:sp>
      <p:sp>
        <p:nvSpPr>
          <p:cNvPr id="10" name="Text 8"/>
          <p:cNvSpPr/>
          <p:nvPr/>
        </p:nvSpPr>
        <p:spPr>
          <a:xfrm>
            <a:off x="432197" y="2063651"/>
            <a:ext cx="4736306" cy="745629"/>
          </a:xfrm>
          <a:prstGeom prst="roundRect">
            <a:avLst>
              <a:gd name="adj" fmla="val 17884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2931" y="2297162"/>
            <a:ext cx="502920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463" dirty="0"/>
          </a:p>
        </p:txBody>
      </p:sp>
      <p:sp>
        <p:nvSpPr>
          <p:cNvPr id="12" name="Text 10"/>
          <p:cNvSpPr/>
          <p:nvPr/>
        </p:nvSpPr>
        <p:spPr>
          <a:xfrm>
            <a:off x="1035844" y="2167235"/>
            <a:ext cx="7144" cy="538460"/>
          </a:xfrm>
          <a:prstGeom prst="rect">
            <a:avLst/>
          </a:prstGeom>
          <a:solidFill>
            <a:srgbClr val="9FB0C7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71575" y="2267471"/>
            <a:ext cx="1927955" cy="1708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28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Alert log</a:t>
            </a:r>
            <a:endParaRPr lang="en-US" sz="928" dirty="0"/>
          </a:p>
        </p:txBody>
      </p:sp>
      <p:sp>
        <p:nvSpPr>
          <p:cNvPr id="14" name="Text 12"/>
          <p:cNvSpPr/>
          <p:nvPr/>
        </p:nvSpPr>
        <p:spPr>
          <a:xfrm>
            <a:off x="1171575" y="2465710"/>
            <a:ext cx="1626712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759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/var/log/snort/snort.alert.fast</a:t>
            </a:r>
            <a:r>
              <a:rPr lang="en-US" sz="759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written</a:t>
            </a:r>
            <a:endParaRPr lang="en-US" sz="759" dirty="0"/>
          </a:p>
        </p:txBody>
      </p:sp>
      <p:sp>
        <p:nvSpPr>
          <p:cNvPr id="15" name="Text 13"/>
          <p:cNvSpPr/>
          <p:nvPr/>
        </p:nvSpPr>
        <p:spPr>
          <a:xfrm>
            <a:off x="432197" y="2902148"/>
            <a:ext cx="4736306" cy="745629"/>
          </a:xfrm>
          <a:prstGeom prst="roundRect">
            <a:avLst>
              <a:gd name="adj" fmla="val 17884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2931" y="3135660"/>
            <a:ext cx="502920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463" dirty="0"/>
          </a:p>
        </p:txBody>
      </p:sp>
      <p:sp>
        <p:nvSpPr>
          <p:cNvPr id="17" name="Text 15"/>
          <p:cNvSpPr/>
          <p:nvPr/>
        </p:nvSpPr>
        <p:spPr>
          <a:xfrm>
            <a:off x="1035844" y="3005733"/>
            <a:ext cx="7144" cy="538460"/>
          </a:xfrm>
          <a:prstGeom prst="rect">
            <a:avLst/>
          </a:prstGeom>
          <a:solidFill>
            <a:srgbClr val="9FB0C7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71575" y="3105969"/>
            <a:ext cx="1771694" cy="1708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28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Wazuh agent</a:t>
            </a:r>
            <a:endParaRPr lang="en-US" sz="928" dirty="0"/>
          </a:p>
        </p:txBody>
      </p:sp>
      <p:sp>
        <p:nvSpPr>
          <p:cNvPr id="19" name="Text 17"/>
          <p:cNvSpPr/>
          <p:nvPr/>
        </p:nvSpPr>
        <p:spPr>
          <a:xfrm>
            <a:off x="1171575" y="3304208"/>
            <a:ext cx="1632619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759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localfile block, </a:t>
            </a:r>
            <a:r>
              <a:rPr lang="en-US" sz="759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log_format snort-fast</a:t>
            </a:r>
            <a:endParaRPr lang="en-US" sz="759" dirty="0"/>
          </a:p>
        </p:txBody>
      </p:sp>
      <p:sp>
        <p:nvSpPr>
          <p:cNvPr id="20" name="Text 18"/>
          <p:cNvSpPr/>
          <p:nvPr/>
        </p:nvSpPr>
        <p:spPr>
          <a:xfrm>
            <a:off x="432197" y="3740646"/>
            <a:ext cx="4736306" cy="745629"/>
          </a:xfrm>
          <a:prstGeom prst="roundRect">
            <a:avLst>
              <a:gd name="adj" fmla="val 17884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2931" y="3974157"/>
            <a:ext cx="502920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463" dirty="0"/>
          </a:p>
        </p:txBody>
      </p:sp>
      <p:sp>
        <p:nvSpPr>
          <p:cNvPr id="22" name="Text 20"/>
          <p:cNvSpPr/>
          <p:nvPr/>
        </p:nvSpPr>
        <p:spPr>
          <a:xfrm>
            <a:off x="1035844" y="3844230"/>
            <a:ext cx="7144" cy="538460"/>
          </a:xfrm>
          <a:prstGeom prst="rect">
            <a:avLst/>
          </a:prstGeom>
          <a:solidFill>
            <a:srgbClr val="9FB0C7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71575" y="3944466"/>
            <a:ext cx="2512028" cy="1708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28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</a:t>
            </a:r>
            <a:endParaRPr lang="en-US" sz="928" dirty="0"/>
          </a:p>
        </p:txBody>
      </p:sp>
      <p:sp>
        <p:nvSpPr>
          <p:cNvPr id="24" name="Text 22"/>
          <p:cNvSpPr/>
          <p:nvPr/>
        </p:nvSpPr>
        <p:spPr>
          <a:xfrm>
            <a:off x="1171575" y="4142705"/>
            <a:ext cx="2119524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759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decoded under rule group ids (</a:t>
            </a:r>
            <a:r>
              <a:rPr lang="en-US" sz="759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20100 / 20101</a:t>
            </a:r>
            <a:r>
              <a:rPr lang="en-US" sz="759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759" dirty="0"/>
          </a:p>
        </p:txBody>
      </p:sp>
      <p:sp>
        <p:nvSpPr>
          <p:cNvPr id="25" name="Text 23"/>
          <p:cNvSpPr/>
          <p:nvPr/>
        </p:nvSpPr>
        <p:spPr>
          <a:xfrm>
            <a:off x="428625" y="4591345"/>
            <a:ext cx="870310" cy="264919"/>
          </a:xfrm>
          <a:prstGeom prst="roundRect">
            <a:avLst>
              <a:gd name="adj" fmla="val 3591843"/>
            </a:avLst>
          </a:prstGeom>
          <a:solidFill>
            <a:srgbClr val="2DD4BF">
              <a:alpha val="13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6452" y="4668441"/>
            <a:ext cx="707548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IDS alerts</a:t>
            </a:r>
            <a:endParaRPr lang="en-US" sz="731" dirty="0"/>
          </a:p>
        </p:txBody>
      </p:sp>
      <p:sp>
        <p:nvSpPr>
          <p:cNvPr id="27" name="Text 25"/>
          <p:cNvSpPr/>
          <p:nvPr/>
        </p:nvSpPr>
        <p:spPr>
          <a:xfrm>
            <a:off x="535781" y="467022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055" dirty="0"/>
          </a:p>
        </p:txBody>
      </p:sp>
      <p:sp>
        <p:nvSpPr>
          <p:cNvPr id="28" name="Text 26"/>
          <p:cNvSpPr/>
          <p:nvPr/>
        </p:nvSpPr>
        <p:spPr>
          <a:xfrm>
            <a:off x="1370372" y="4591345"/>
            <a:ext cx="1213768" cy="264919"/>
          </a:xfrm>
          <a:prstGeom prst="roundRect">
            <a:avLst>
              <a:gd name="adj" fmla="val 3591843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627547" y="4668441"/>
            <a:ext cx="99231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rules 20100 + 20101</a:t>
            </a:r>
            <a:endParaRPr lang="en-US" sz="731" dirty="0"/>
          </a:p>
        </p:txBody>
      </p:sp>
      <p:sp>
        <p:nvSpPr>
          <p:cNvPr id="30" name="Text 28"/>
          <p:cNvSpPr/>
          <p:nvPr/>
        </p:nvSpPr>
        <p:spPr>
          <a:xfrm>
            <a:off x="1477528" y="467022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055" dirty="0"/>
          </a:p>
        </p:txBody>
      </p:sp>
      <p:sp>
        <p:nvSpPr>
          <p:cNvPr id="31" name="Text 29"/>
          <p:cNvSpPr/>
          <p:nvPr/>
        </p:nvSpPr>
        <p:spPr>
          <a:xfrm>
            <a:off x="2659149" y="4607719"/>
            <a:ext cx="1978596" cy="232172"/>
          </a:xfrm>
          <a:prstGeom prst="roundRect">
            <a:avLst>
              <a:gd name="adj" fmla="val 4098459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12752" y="4668441"/>
            <a:ext cx="2259323" cy="126609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192.168.56.1 to 192.168.56.102</a:t>
            </a:r>
            <a:endParaRPr lang="en-US" sz="731" dirty="0"/>
          </a:p>
        </p:txBody>
      </p:sp>
      <p:sp>
        <p:nvSpPr>
          <p:cNvPr id="33" name="Text 31"/>
          <p:cNvSpPr/>
          <p:nvPr/>
        </p:nvSpPr>
        <p:spPr>
          <a:xfrm>
            <a:off x="2762734" y="467022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55" dirty="0"/>
          </a:p>
        </p:txBody>
      </p:sp>
      <p:sp>
        <p:nvSpPr>
          <p:cNvPr id="34" name="Text 32"/>
          <p:cNvSpPr/>
          <p:nvPr/>
        </p:nvSpPr>
        <p:spPr>
          <a:xfrm>
            <a:off x="5347097" y="1225153"/>
            <a:ext cx="3364706" cy="1678781"/>
          </a:xfrm>
          <a:prstGeom prst="roundRect">
            <a:avLst>
              <a:gd name="adj" fmla="val 6809"/>
            </a:avLst>
          </a:prstGeom>
          <a:solidFill>
            <a:srgbClr val="0A1626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0" descr="/tmp/h2p-fit-1793198744306-sz6f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669" y="1228725"/>
            <a:ext cx="3357563" cy="167163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343525" y="298073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055" dirty="0"/>
          </a:p>
        </p:txBody>
      </p:sp>
      <p:sp>
        <p:nvSpPr>
          <p:cNvPr id="37" name="Text 34"/>
          <p:cNvSpPr/>
          <p:nvPr/>
        </p:nvSpPr>
        <p:spPr>
          <a:xfrm>
            <a:off x="5500688" y="2971800"/>
            <a:ext cx="32146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03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Snort IDS alerts inside Wazuh Threat Hunting (rule.groups: ids)</a:t>
            </a:r>
            <a:endParaRPr lang="en-US" sz="703" dirty="0"/>
          </a:p>
        </p:txBody>
      </p:sp>
      <p:sp>
        <p:nvSpPr>
          <p:cNvPr id="38" name="Text 35"/>
          <p:cNvSpPr/>
          <p:nvPr/>
        </p:nvSpPr>
        <p:spPr>
          <a:xfrm>
            <a:off x="5347097" y="3214688"/>
            <a:ext cx="3364706" cy="1625203"/>
          </a:xfrm>
          <a:prstGeom prst="roundRect">
            <a:avLst>
              <a:gd name="adj" fmla="val 8205"/>
            </a:avLst>
          </a:prstGeom>
          <a:solidFill>
            <a:srgbClr val="2DD4BF">
              <a:alpha val="13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507831" y="393442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40" name="Text 37"/>
          <p:cNvSpPr/>
          <p:nvPr/>
        </p:nvSpPr>
        <p:spPr>
          <a:xfrm>
            <a:off x="5807869" y="3866778"/>
            <a:ext cx="2743200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4"/>
              </a:lnSpc>
              <a:buNone/>
            </a:pPr>
            <a:r>
              <a:rPr lang="en-US" sz="816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attacker ping becomes </a:t>
            </a:r>
            <a:r>
              <a:rPr lang="en-US" sz="816" b="1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correlated detections</a:t>
            </a:r>
            <a:r>
              <a:rPr lang="en-US" sz="816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- network-side by Snort, host-side by Wazuh.</a:t>
            </a:r>
            <a:endParaRPr lang="en-US" sz="81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7617" y="-360520"/>
            <a:ext cx="1546383" cy="1864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28625" y="34290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73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RESPONSE PLAYBOOK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8625" y="532209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3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 This Were </a:t>
            </a:r>
            <a:r>
              <a:rPr lang="en-US" sz="2250" b="1" kern="0" spc="-34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</a:t>
            </a:r>
            <a:r>
              <a:rPr lang="en-US" sz="2250" b="1" kern="0" spc="-3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- My Next Moves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32197" y="1007269"/>
            <a:ext cx="2678906" cy="1735931"/>
          </a:xfrm>
          <a:prstGeom prst="roundRect">
            <a:avLst>
              <a:gd name="adj" fmla="val 7682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2931" y="1153716"/>
            <a:ext cx="2071688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463" dirty="0"/>
          </a:p>
        </p:txBody>
      </p:sp>
      <p:sp>
        <p:nvSpPr>
          <p:cNvPr id="7" name="Text 5"/>
          <p:cNvSpPr/>
          <p:nvPr/>
        </p:nvSpPr>
        <p:spPr>
          <a:xfrm>
            <a:off x="2678906" y="1157288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2DD4BF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05874" y="1184255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477" dirty="0"/>
          </a:p>
        </p:txBody>
      </p:sp>
      <p:sp>
        <p:nvSpPr>
          <p:cNvPr id="9" name="Text 7"/>
          <p:cNvSpPr/>
          <p:nvPr/>
        </p:nvSpPr>
        <p:spPr>
          <a:xfrm>
            <a:off x="592931" y="1503759"/>
            <a:ext cx="2357438" cy="1958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77"/>
              </a:lnSpc>
              <a:buNone/>
            </a:pPr>
            <a:r>
              <a:rPr lang="en-US" sz="98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Contain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92931" y="1727002"/>
            <a:ext cx="2357438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Block the source IP at the firewall and enable </a:t>
            </a:r>
            <a:r>
              <a:rPr lang="en-US" sz="800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fail2ban</a:t>
            </a: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or Wazuh active response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32547" y="1007269"/>
            <a:ext cx="2678906" cy="1735931"/>
          </a:xfrm>
          <a:prstGeom prst="roundRect">
            <a:avLst>
              <a:gd name="adj" fmla="val 7682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93281" y="1153716"/>
            <a:ext cx="2071688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463" dirty="0"/>
          </a:p>
        </p:txBody>
      </p:sp>
      <p:sp>
        <p:nvSpPr>
          <p:cNvPr id="13" name="Text 11"/>
          <p:cNvSpPr/>
          <p:nvPr/>
        </p:nvSpPr>
        <p:spPr>
          <a:xfrm>
            <a:off x="5479256" y="1157288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2DD4BF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06224" y="1184255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477" dirty="0"/>
          </a:p>
        </p:txBody>
      </p:sp>
      <p:sp>
        <p:nvSpPr>
          <p:cNvPr id="15" name="Text 13"/>
          <p:cNvSpPr/>
          <p:nvPr/>
        </p:nvSpPr>
        <p:spPr>
          <a:xfrm>
            <a:off x="3393281" y="1503759"/>
            <a:ext cx="2357438" cy="1958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77"/>
              </a:lnSpc>
              <a:buNone/>
            </a:pPr>
            <a:r>
              <a:rPr lang="en-US" sz="98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Harden</a:t>
            </a:r>
            <a:endParaRPr lang="en-US" sz="984" dirty="0"/>
          </a:p>
        </p:txBody>
      </p:sp>
      <p:sp>
        <p:nvSpPr>
          <p:cNvPr id="16" name="Text 14"/>
          <p:cNvSpPr/>
          <p:nvPr/>
        </p:nvSpPr>
        <p:spPr>
          <a:xfrm>
            <a:off x="3393281" y="1727002"/>
            <a:ext cx="2357438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Disable SSH password login, switch to </a:t>
            </a: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key-based auth</a:t>
            </a: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restrict trusted IPs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32897" y="1007269"/>
            <a:ext cx="2678906" cy="1735931"/>
          </a:xfrm>
          <a:prstGeom prst="roundRect">
            <a:avLst>
              <a:gd name="adj" fmla="val 7682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93631" y="1153716"/>
            <a:ext cx="2071688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463" dirty="0"/>
          </a:p>
        </p:txBody>
      </p:sp>
      <p:sp>
        <p:nvSpPr>
          <p:cNvPr id="19" name="Text 17"/>
          <p:cNvSpPr/>
          <p:nvPr/>
        </p:nvSpPr>
        <p:spPr>
          <a:xfrm>
            <a:off x="8279606" y="1157288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2DD4BF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306574" y="1184255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477" dirty="0"/>
          </a:p>
        </p:txBody>
      </p:sp>
      <p:sp>
        <p:nvSpPr>
          <p:cNvPr id="21" name="Text 19"/>
          <p:cNvSpPr/>
          <p:nvPr/>
        </p:nvSpPr>
        <p:spPr>
          <a:xfrm>
            <a:off x="6193631" y="1503759"/>
            <a:ext cx="2357437" cy="1958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77"/>
              </a:lnSpc>
              <a:buNone/>
            </a:pPr>
            <a:r>
              <a:rPr lang="en-US" sz="98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Verify</a:t>
            </a:r>
            <a:endParaRPr lang="en-US" sz="984" dirty="0"/>
          </a:p>
        </p:txBody>
      </p:sp>
      <p:sp>
        <p:nvSpPr>
          <p:cNvPr id="22" name="Text 20"/>
          <p:cNvSpPr/>
          <p:nvPr/>
        </p:nvSpPr>
        <p:spPr>
          <a:xfrm>
            <a:off x="6193631" y="1727002"/>
            <a:ext cx="2357438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 </a:t>
            </a: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</a:t>
            </a: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auth.log</a:t>
            </a: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 any successful login from the source; check for new accounts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2197" y="2864644"/>
            <a:ext cx="2678906" cy="1735931"/>
          </a:xfrm>
          <a:prstGeom prst="roundRect">
            <a:avLst>
              <a:gd name="adj" fmla="val 7682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2931" y="3011091"/>
            <a:ext cx="2071688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463" dirty="0"/>
          </a:p>
        </p:txBody>
      </p:sp>
      <p:sp>
        <p:nvSpPr>
          <p:cNvPr id="25" name="Text 23"/>
          <p:cNvSpPr/>
          <p:nvPr/>
        </p:nvSpPr>
        <p:spPr>
          <a:xfrm>
            <a:off x="2678906" y="3014663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2DD4BF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705874" y="3041630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477" dirty="0"/>
          </a:p>
        </p:txBody>
      </p:sp>
      <p:sp>
        <p:nvSpPr>
          <p:cNvPr id="27" name="Text 25"/>
          <p:cNvSpPr/>
          <p:nvPr/>
        </p:nvSpPr>
        <p:spPr>
          <a:xfrm>
            <a:off x="592931" y="3361134"/>
            <a:ext cx="2357438" cy="1958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77"/>
              </a:lnSpc>
              <a:buNone/>
            </a:pPr>
            <a:r>
              <a:rPr lang="en-US" sz="98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Recover</a:t>
            </a:r>
            <a:endParaRPr lang="en-US" sz="984" dirty="0"/>
          </a:p>
        </p:txBody>
      </p:sp>
      <p:sp>
        <p:nvSpPr>
          <p:cNvPr id="28" name="Text 26"/>
          <p:cNvSpPr/>
          <p:nvPr/>
        </p:nvSpPr>
        <p:spPr>
          <a:xfrm>
            <a:off x="592931" y="3584377"/>
            <a:ext cx="2357438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Rotate credentials for targeted accounts if compromise is suspected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32547" y="2864644"/>
            <a:ext cx="2678906" cy="1735931"/>
          </a:xfrm>
          <a:prstGeom prst="roundRect">
            <a:avLst>
              <a:gd name="adj" fmla="val 7682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93281" y="3011091"/>
            <a:ext cx="2071688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463" dirty="0"/>
          </a:p>
        </p:txBody>
      </p:sp>
      <p:sp>
        <p:nvSpPr>
          <p:cNvPr id="31" name="Text 29"/>
          <p:cNvSpPr/>
          <p:nvPr/>
        </p:nvSpPr>
        <p:spPr>
          <a:xfrm>
            <a:off x="5479256" y="3014663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2DD4BF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06224" y="3041630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477" dirty="0"/>
          </a:p>
        </p:txBody>
      </p:sp>
      <p:sp>
        <p:nvSpPr>
          <p:cNvPr id="33" name="Text 31"/>
          <p:cNvSpPr/>
          <p:nvPr/>
        </p:nvSpPr>
        <p:spPr>
          <a:xfrm>
            <a:off x="3393281" y="3361134"/>
            <a:ext cx="2357438" cy="1958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77"/>
              </a:lnSpc>
              <a:buNone/>
            </a:pPr>
            <a:r>
              <a:rPr lang="en-US" sz="98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Patch</a:t>
            </a:r>
            <a:endParaRPr lang="en-US" sz="984" dirty="0"/>
          </a:p>
        </p:txBody>
      </p:sp>
      <p:sp>
        <p:nvSpPr>
          <p:cNvPr id="34" name="Text 32"/>
          <p:cNvSpPr/>
          <p:nvPr/>
        </p:nvSpPr>
        <p:spPr>
          <a:xfrm>
            <a:off x="3393281" y="3584377"/>
            <a:ext cx="2357438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the endpoint updated so known holes stay closed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32897" y="2864644"/>
            <a:ext cx="2678906" cy="1735931"/>
          </a:xfrm>
          <a:prstGeom prst="roundRect">
            <a:avLst>
              <a:gd name="adj" fmla="val 7682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93631" y="3011091"/>
            <a:ext cx="2071688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463" dirty="0"/>
          </a:p>
        </p:txBody>
      </p:sp>
      <p:sp>
        <p:nvSpPr>
          <p:cNvPr id="37" name="Text 35"/>
          <p:cNvSpPr/>
          <p:nvPr/>
        </p:nvSpPr>
        <p:spPr>
          <a:xfrm>
            <a:off x="8279606" y="3014663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2DD4BF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306574" y="3041630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477" dirty="0"/>
          </a:p>
        </p:txBody>
      </p:sp>
      <p:sp>
        <p:nvSpPr>
          <p:cNvPr id="39" name="Text 37"/>
          <p:cNvSpPr/>
          <p:nvPr/>
        </p:nvSpPr>
        <p:spPr>
          <a:xfrm>
            <a:off x="6193631" y="3361134"/>
            <a:ext cx="2357437" cy="1958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77"/>
              </a:lnSpc>
              <a:buNone/>
            </a:pPr>
            <a:r>
              <a:rPr lang="en-US" sz="98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</a:t>
            </a:r>
            <a:endParaRPr lang="en-US" sz="984" dirty="0"/>
          </a:p>
        </p:txBody>
      </p:sp>
      <p:sp>
        <p:nvSpPr>
          <p:cNvPr id="40" name="Text 38"/>
          <p:cNvSpPr/>
          <p:nvPr/>
        </p:nvSpPr>
        <p:spPr>
          <a:xfrm>
            <a:off x="6193631" y="3584377"/>
            <a:ext cx="2357438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watching rules </a:t>
            </a:r>
            <a:r>
              <a:rPr lang="en-US" sz="800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5710/5503</a:t>
            </a: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confirm the alerts stop after blocking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806266" y="4727377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9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42" name="Text 40"/>
          <p:cNvSpPr/>
          <p:nvPr/>
        </p:nvSpPr>
        <p:spPr>
          <a:xfrm>
            <a:off x="2999147" y="4718447"/>
            <a:ext cx="57162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step maps to the incident investigation I documented in the Week 10 report.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4290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73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DEBRIEF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32209"/>
            <a:ext cx="8636000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34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Lessons From the </a:t>
            </a:r>
            <a:r>
              <a:rPr lang="en-US" sz="2250" b="1" kern="0" spc="-34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Hunt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32197" y="1007269"/>
            <a:ext cx="2766864" cy="3343275"/>
          </a:xfrm>
          <a:prstGeom prst="roundRect">
            <a:avLst>
              <a:gd name="adj" fmla="val 4820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95364" y="3375422"/>
            <a:ext cx="1214438" cy="1214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25078" y="1200150"/>
            <a:ext cx="364331" cy="364331"/>
          </a:xfrm>
          <a:prstGeom prst="roundRect">
            <a:avLst>
              <a:gd name="adj" fmla="val 36601"/>
            </a:avLst>
          </a:prstGeom>
          <a:solidFill>
            <a:srgbClr val="2DD4BF">
              <a:alpha val="13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2226" y="1237298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621506" y="1696641"/>
            <a:ext cx="2388245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77"/>
              </a:lnSpc>
              <a:buNone/>
            </a:pPr>
            <a:r>
              <a:rPr lang="en-US" sz="1181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Logs are early warning</a:t>
            </a:r>
            <a:endParaRPr lang="en-US" sz="1181" dirty="0"/>
          </a:p>
        </p:txBody>
      </p:sp>
      <p:sp>
        <p:nvSpPr>
          <p:cNvPr id="9" name="Text 7"/>
          <p:cNvSpPr/>
          <p:nvPr/>
        </p:nvSpPr>
        <p:spPr>
          <a:xfrm>
            <a:off x="621506" y="1955602"/>
            <a:ext cx="238824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Authentication logs caught the attacker before any damage could exist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621506" y="3939778"/>
            <a:ext cx="2388245" cy="7144"/>
          </a:xfrm>
          <a:prstGeom prst="rect">
            <a:avLst/>
          </a:prstGeom>
          <a:solidFill>
            <a:srgbClr val="9FB0C7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506" y="4032647"/>
            <a:ext cx="238824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95" dirty="0">
                <a:solidFill>
                  <a:srgbClr val="9FB0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LESSON 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20504" y="1007269"/>
            <a:ext cx="2634928" cy="1610916"/>
          </a:xfrm>
          <a:prstGeom prst="roundRect">
            <a:avLst>
              <a:gd name="adj" fmla="val 8278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81239" y="1168003"/>
            <a:ext cx="285750" cy="285750"/>
          </a:xfrm>
          <a:prstGeom prst="roundRect">
            <a:avLst>
              <a:gd name="adj" fmla="val 36667"/>
            </a:avLst>
          </a:prstGeom>
          <a:solidFill>
            <a:srgbClr val="2DD4BF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15350" y="1202115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477" dirty="0"/>
          </a:p>
        </p:txBody>
      </p:sp>
      <p:sp>
        <p:nvSpPr>
          <p:cNvPr id="15" name="Text 13"/>
          <p:cNvSpPr/>
          <p:nvPr/>
        </p:nvSpPr>
        <p:spPr>
          <a:xfrm>
            <a:off x="3852714" y="1234976"/>
            <a:ext cx="1941984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Paired alerts confirm truth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3481239" y="1539478"/>
            <a:ext cx="2313459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sshd + PAM</a:t>
            </a: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agreeing on the same event kills false positives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76876" y="1007269"/>
            <a:ext cx="2634816" cy="1610916"/>
          </a:xfrm>
          <a:prstGeom prst="roundRect">
            <a:avLst>
              <a:gd name="adj" fmla="val 8278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37610" y="1168003"/>
            <a:ext cx="285750" cy="285750"/>
          </a:xfrm>
          <a:prstGeom prst="roundRect">
            <a:avLst>
              <a:gd name="adj" fmla="val 36667"/>
            </a:avLst>
          </a:prstGeom>
          <a:solidFill>
            <a:srgbClr val="2DD4BF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71721" y="1202115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77" dirty="0"/>
          </a:p>
        </p:txBody>
      </p:sp>
      <p:sp>
        <p:nvSpPr>
          <p:cNvPr id="20" name="Text 18"/>
          <p:cNvSpPr/>
          <p:nvPr/>
        </p:nvSpPr>
        <p:spPr>
          <a:xfrm>
            <a:off x="6609085" y="1234976"/>
            <a:ext cx="1941872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Thresholds matter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6237610" y="1539478"/>
            <a:ext cx="2313347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failed login is noise, </a:t>
            </a: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in three minutes is a pattern</a:t>
            </a: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- alerting needs both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20504" y="2739628"/>
            <a:ext cx="5391187" cy="1610916"/>
          </a:xfrm>
          <a:prstGeom prst="roundRect">
            <a:avLst>
              <a:gd name="adj" fmla="val 8278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509814" y="3373636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2DD4BF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551783" y="3415605"/>
            <a:ext cx="25896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5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758" dirty="0"/>
          </a:p>
        </p:txBody>
      </p:sp>
      <p:sp>
        <p:nvSpPr>
          <p:cNvPr id="25" name="Text 23"/>
          <p:cNvSpPr/>
          <p:nvPr/>
        </p:nvSpPr>
        <p:spPr>
          <a:xfrm>
            <a:off x="3995589" y="3349749"/>
            <a:ext cx="391279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Correlate everything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3995589" y="3585493"/>
            <a:ext cx="372647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788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Snort network alerts + Wazuh host alerts in one dashboard </a:t>
            </a:r>
            <a:r>
              <a:rPr lang="en-US" sz="788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the full attacker story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428625" y="4496991"/>
            <a:ext cx="8286750" cy="7144"/>
          </a:xfrm>
          <a:prstGeom prst="rect">
            <a:avLst/>
          </a:prstGeom>
          <a:solidFill>
            <a:srgbClr val="9FB0C7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8625" y="4670227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36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29" name="Text 27"/>
          <p:cNvSpPr/>
          <p:nvPr/>
        </p:nvSpPr>
        <p:spPr>
          <a:xfrm>
            <a:off x="621506" y="4660404"/>
            <a:ext cx="1486029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Skills I sharpened this week</a:t>
            </a:r>
            <a:endParaRPr lang="en-US" sz="816" dirty="0"/>
          </a:p>
        </p:txBody>
      </p:sp>
      <p:sp>
        <p:nvSpPr>
          <p:cNvPr id="30" name="Text 28"/>
          <p:cNvSpPr/>
          <p:nvPr/>
        </p:nvSpPr>
        <p:spPr>
          <a:xfrm>
            <a:off x="2097472" y="4605633"/>
            <a:ext cx="762930" cy="264919"/>
          </a:xfrm>
          <a:prstGeom prst="roundRect">
            <a:avLst>
              <a:gd name="adj" fmla="val 3591843"/>
            </a:avLst>
          </a:prstGeom>
          <a:solidFill>
            <a:srgbClr val="2DD4BF">
              <a:alpha val="13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097472" y="4618434"/>
            <a:ext cx="762930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Wazuh SIEM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960415" y="4605633"/>
            <a:ext cx="616930" cy="264919"/>
          </a:xfrm>
          <a:prstGeom prst="roundRect">
            <a:avLst>
              <a:gd name="adj" fmla="val 3591843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960415" y="4618434"/>
            <a:ext cx="616930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Snort IDS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77357" y="4605633"/>
            <a:ext cx="735806" cy="264919"/>
          </a:xfrm>
          <a:prstGeom prst="roundRect">
            <a:avLst>
              <a:gd name="adj" fmla="val 3591843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655827" y="4618434"/>
            <a:ext cx="77886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 Analysis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13176" y="4605633"/>
            <a:ext cx="983605" cy="264919"/>
          </a:xfrm>
          <a:prstGeom prst="roundRect">
            <a:avLst>
              <a:gd name="adj" fmla="val 3591843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513176" y="4618434"/>
            <a:ext cx="983605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Incident Response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96793" y="4605633"/>
            <a:ext cx="883369" cy="264919"/>
          </a:xfrm>
          <a:prstGeom prst="roundRect">
            <a:avLst>
              <a:gd name="adj" fmla="val 3591843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596793" y="4618434"/>
            <a:ext cx="883369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MITRE ATT&amp;CK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83747" y="4622006"/>
            <a:ext cx="1172468" cy="232172"/>
          </a:xfrm>
          <a:prstGeom prst="roundRect">
            <a:avLst>
              <a:gd name="adj" fmla="val 4098459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580175" y="4618434"/>
            <a:ext cx="2135200" cy="282761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File Integrity Monitoring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93198745916-xgyw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B33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428625" y="1057275"/>
            <a:ext cx="400050" cy="28575"/>
          </a:xfrm>
          <a:prstGeom prst="roundRect">
            <a:avLst>
              <a:gd name="adj" fmla="val 66667"/>
            </a:avLst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28625" y="1271588"/>
            <a:ext cx="8636000" cy="61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89"/>
              </a:lnSpc>
              <a:buNone/>
            </a:pPr>
            <a:r>
              <a:rPr lang="en-US" sz="4275" b="1" kern="0" spc="-86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Hunt </a:t>
            </a:r>
            <a:r>
              <a:rPr lang="en-US" sz="4275" b="1" kern="0" spc="-86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Continues.</a:t>
            </a:r>
            <a:endParaRPr lang="en-US" sz="4275" dirty="0"/>
          </a:p>
        </p:txBody>
      </p:sp>
      <p:sp>
        <p:nvSpPr>
          <p:cNvPr id="7" name="Text 3"/>
          <p:cNvSpPr/>
          <p:nvPr/>
        </p:nvSpPr>
        <p:spPr>
          <a:xfrm>
            <a:off x="428625" y="1984511"/>
            <a:ext cx="5572125" cy="43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9"/>
              </a:lnSpc>
              <a:buNone/>
            </a:pPr>
            <a:r>
              <a:rPr lang="en-US" sz="1013" dirty="0">
                <a:solidFill>
                  <a:srgbClr val="9FB0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10 complete - </a:t>
            </a:r>
            <a:r>
              <a:rPr lang="en-US" sz="1013" dirty="0">
                <a:solidFill>
                  <a:srgbClr val="F2F6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358</a:t>
            </a:r>
            <a:r>
              <a:rPr lang="en-US" sz="1013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alerts monitored, one simulated attacker caught, one SOC lab built from scratch.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957263" y="2926817"/>
            <a:ext cx="1608065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endParaRPr lang="en-US" sz="816" dirty="0"/>
          </a:p>
        </p:txBody>
      </p:sp>
      <p:sp>
        <p:nvSpPr>
          <p:cNvPr id="16" name="Text 12"/>
          <p:cNvSpPr/>
          <p:nvPr/>
        </p:nvSpPr>
        <p:spPr>
          <a:xfrm>
            <a:off x="378190" y="2467520"/>
            <a:ext cx="2297162" cy="492919"/>
          </a:xfrm>
          <a:prstGeom prst="roundRect">
            <a:avLst>
              <a:gd name="adj" fmla="val 27053"/>
            </a:avLst>
          </a:prstGeom>
          <a:solidFill>
            <a:srgbClr val="10233F">
              <a:alpha val="82000"/>
            </a:srgbClr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99756" y="2565128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2DD4BF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25065" y="258096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9" name="Text 15"/>
          <p:cNvSpPr/>
          <p:nvPr/>
        </p:nvSpPr>
        <p:spPr>
          <a:xfrm>
            <a:off x="857284" y="2600382"/>
            <a:ext cx="1708044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GitHub: github.com/skymahnoor</a:t>
            </a:r>
            <a:endParaRPr lang="en-US" sz="816" dirty="0"/>
          </a:p>
        </p:txBody>
      </p:sp>
      <p:sp>
        <p:nvSpPr>
          <p:cNvPr id="20" name="Text 16"/>
          <p:cNvSpPr/>
          <p:nvPr/>
        </p:nvSpPr>
        <p:spPr>
          <a:xfrm>
            <a:off x="428625" y="4597003"/>
            <a:ext cx="8286750" cy="7144"/>
          </a:xfrm>
          <a:prstGeom prst="rect">
            <a:avLst/>
          </a:prstGeom>
          <a:solidFill>
            <a:srgbClr val="9FB0C7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28625" y="473094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22" name="Text 18"/>
          <p:cNvSpPr/>
          <p:nvPr/>
        </p:nvSpPr>
        <p:spPr>
          <a:xfrm>
            <a:off x="614363" y="4718447"/>
            <a:ext cx="81010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Mah Noor</a:t>
            </a:r>
            <a:r>
              <a:rPr lang="en-US" sz="800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- Cyber Security Intern  - DG Interns Hub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709767" y="317897"/>
            <a:ext cx="2002036" cy="232172"/>
          </a:xfrm>
          <a:prstGeom prst="roundRect">
            <a:avLst>
              <a:gd name="adj" fmla="val 4098459"/>
            </a:avLst>
          </a:prstGeom>
          <a:solidFill>
            <a:srgbClr val="10233F"/>
          </a:solidFill>
          <a:ln w="7144">
            <a:solidFill>
              <a:srgbClr val="9FB0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963370" y="378619"/>
            <a:ext cx="1644848" cy="126609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FB0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 10 of my cyber security internship</a:t>
            </a:r>
            <a:endParaRPr lang="en-US" sz="731" dirty="0"/>
          </a:p>
        </p:txBody>
      </p:sp>
      <p:sp>
        <p:nvSpPr>
          <p:cNvPr id="25" name="Text 21"/>
          <p:cNvSpPr/>
          <p:nvPr/>
        </p:nvSpPr>
        <p:spPr>
          <a:xfrm>
            <a:off x="6813352" y="380405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05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1084</Words>
  <Application>Microsoft Office PowerPoint</Application>
  <PresentationFormat>On-screen Show (16:9)</PresentationFormat>
  <Paragraphs>226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Carlito</vt:lpstr>
      <vt:lpstr>Liberation Sans Narrow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 Noor</cp:lastModifiedBy>
  <cp:revision>3</cp:revision>
  <dcterms:created xsi:type="dcterms:W3CDTF">2026-10-28T14:45:46Z</dcterms:created>
  <dcterms:modified xsi:type="dcterms:W3CDTF">2026-10-28T15:15:54Z</dcterms:modified>
</cp:coreProperties>
</file>